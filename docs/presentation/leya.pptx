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8db700ee9c4b65" /><Relationship Type="http://schemas.openxmlformats.org/officeDocument/2006/relationships/extended-properties" Target="/docProps/app.xml" Id="Rcf710fbd6d9b4042" /><Relationship Type="http://schemas.openxmlformats.org/officeDocument/2006/relationships/officeDocument" Target="/ppt/presentation.xml" Id="R443067e679d5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23eb2302144a5"/>
  </p:sldMasterIdLst>
  <p:notesMasterIdLst>
    <p:notesMasterId xmlns:r="http://schemas.openxmlformats.org/officeDocument/2006/relationships" r:id="Rc32f0e22e24d437a"/>
  </p:notesMasterIdLst>
  <p:sldIdLst>
    <p:sldId xmlns:r="http://schemas.openxmlformats.org/officeDocument/2006/relationships" id="256" r:id="R3a56448fbe3b400b"/>
    <p:sldId xmlns:r="http://schemas.openxmlformats.org/officeDocument/2006/relationships" id="257" r:id="R392864bfcd184b5f"/>
    <p:sldId xmlns:r="http://schemas.openxmlformats.org/officeDocument/2006/relationships" id="258" r:id="R56131c28b81d45a6"/>
    <p:sldId xmlns:r="http://schemas.openxmlformats.org/officeDocument/2006/relationships" id="259" r:id="Rca8880c3694d4518"/>
    <p:sldId xmlns:r="http://schemas.openxmlformats.org/officeDocument/2006/relationships" id="260" r:id="Rda8a497a59df4b66"/>
    <p:sldId xmlns:r="http://schemas.openxmlformats.org/officeDocument/2006/relationships" id="261" r:id="R140e8eb5112949a7"/>
    <p:sldId xmlns:r="http://schemas.openxmlformats.org/officeDocument/2006/relationships" id="262" r:id="R2e249ccf8fad4962"/>
    <p:sldId xmlns:r="http://schemas.openxmlformats.org/officeDocument/2006/relationships" id="263" r:id="Ref83497e50a94e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92ce6d611843b4" /><Relationship Type="http://schemas.openxmlformats.org/officeDocument/2006/relationships/slideMaster" Target="/ppt/slideMasters/slideMaster1.xml" Id="Rc8523eb2302144a5" /><Relationship Type="http://schemas.openxmlformats.org/officeDocument/2006/relationships/notesMaster" Target="/ppt/notesMasters/notesMaster1.xml" Id="Rc32f0e22e24d437a" /><Relationship Type="http://schemas.openxmlformats.org/officeDocument/2006/relationships/presProps" Target="/ppt/presProps.xml" Id="Raa43a247284a426d" /><Relationship Type="http://schemas.openxmlformats.org/officeDocument/2006/relationships/tableStyles" Target="/ppt/tableStyles.xml" Id="R56c2f4d337f64c47" /><Relationship Type="http://schemas.openxmlformats.org/officeDocument/2006/relationships/slide" Target="/ppt/slides/slide1.xml" Id="R3a56448fbe3b400b" /><Relationship Type="http://schemas.openxmlformats.org/officeDocument/2006/relationships/slide" Target="/ppt/slides/slide2.xml" Id="R392864bfcd184b5f" /><Relationship Type="http://schemas.openxmlformats.org/officeDocument/2006/relationships/slide" Target="/ppt/slides/slide3.xml" Id="R56131c28b81d45a6" /><Relationship Type="http://schemas.openxmlformats.org/officeDocument/2006/relationships/slide" Target="/ppt/slides/slide4.xml" Id="Rca8880c3694d4518" /><Relationship Type="http://schemas.openxmlformats.org/officeDocument/2006/relationships/slide" Target="/ppt/slides/slide5.xml" Id="Rda8a497a59df4b66" /><Relationship Type="http://schemas.openxmlformats.org/officeDocument/2006/relationships/slide" Target="/ppt/slides/slide6.xml" Id="R140e8eb5112949a7" /><Relationship Type="http://schemas.openxmlformats.org/officeDocument/2006/relationships/slide" Target="/ppt/slides/slide7.xml" Id="R2e249ccf8fad4962" /><Relationship Type="http://schemas.openxmlformats.org/officeDocument/2006/relationships/slide" Target="/ppt/slides/slide8.xml" Id="Ref83497e50a9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cbc1beb62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06edd79bb418d" /><Relationship Type="http://schemas.openxmlformats.org/officeDocument/2006/relationships/notesMaster" Target="/ppt/notesMasters/notesMaster1.xml" Id="Rfcf18a4e18f3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66988ac0940ac" /><Relationship Type="http://schemas.openxmlformats.org/officeDocument/2006/relationships/notesMaster" Target="/ppt/notesMasters/notesMaster1.xml" Id="R000292f2d36c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3a7818d82492b" /><Relationship Type="http://schemas.openxmlformats.org/officeDocument/2006/relationships/notesMaster" Target="/ppt/notesMasters/notesMaster1.xml" Id="R6c47dd6e4309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623b8c11fa492b" /><Relationship Type="http://schemas.openxmlformats.org/officeDocument/2006/relationships/notesMaster" Target="/ppt/notesMasters/notesMaster1.xml" Id="R4cc739d884e4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3a5d359ef44723" /><Relationship Type="http://schemas.openxmlformats.org/officeDocument/2006/relationships/notesMaster" Target="/ppt/notesMasters/notesMaster1.xml" Id="R04436ee3b1a6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34edcf0e04e2b" /><Relationship Type="http://schemas.openxmlformats.org/officeDocument/2006/relationships/notesMaster" Target="/ppt/notesMasters/notesMaster1.xml" Id="Rb0bbf120deaa4d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66f34eb6cf4075" /><Relationship Type="http://schemas.openxmlformats.org/officeDocument/2006/relationships/notesMaster" Target="/ppt/notesMasters/notesMaster1.xml" Id="R03de75ce4f4444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58c7daf1aa4086" /><Relationship Type="http://schemas.openxmlformats.org/officeDocument/2006/relationships/notesMaster" Target="/ppt/notesMasters/notesMaster1.xml" Id="R123fbf3a5cf0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Краткая техническая презентация для жюри. Исследовательский прототип. Иллюстрация проекта. Источники: README.md и 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https://www.who.int/data/gho/data/themes/topics/anaemia_in_women_and_children . WHO Global Anaemia Estimates, 2025 Edition. Оценка за 2023 год: 30,7% женщин 15–49 лет во всём мире. Дата обращения: 04.10.2026. Это популяционная оценка анемии, не скрытых дефицитов. Группа ВОЗ отличается от области MVP. Статистика служит обоснованием актуальности и не входит в обучение или проверку качества модели. Модель использует только предоставленный датасет. Подробнее: docs/WHO_STATISTICS.md.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сценарий dist/workflow.js. Отметка проверки не является электронной подписью или подтверждением квалификации врача. Источники: docs/ARCHITECTURE.md, docs/INTERFACES.md.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docs/DATA.md и dist/pdf-import.js. Поддерживается текстовый PDF со столбцами «Тест», «Результат», «Норма», «Ед. изм.». Файл до 5 МБ и 10 страниц. Пользователь сверяет результаты, исправляет их и подтверждает перенос в форму. Сканы и фотографии не поддерживаются. RDW-CV необязателен, ретикулоциты относятся к дополнительным исследованиям.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Архитектура: docs/ARCHITECTURE.md. Модули: app.js, pdf-import.js, engine.js, workflow.js. Отдельное правило Hb, Random Forest, шаблоны текста. Нет внешнего сервиса LLM. Автономный HTML включает ресурсы и модель.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model-evaluation.json, docs/MODEL_CARD.md. Accuracy — доля правильно определённых классов, а не точность постановки диагноза. Стратифицированное разделение, выбор настроек на обучающей части. При режиме ОАК подробные выводы о причинах ограничены.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docs/MEDICAL_AND_PRIVACY.md. Локальная обработка является технической характеристикой, а не юридическим заключением. Внешняя клиническая оценка, происхождение разметки и калибровка требуют дополнительной работы.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Материалы: DEMO.md, examples/demo.csv, docs/REQUIREMENTS.md. Текущая реализация готовит автономный файл npm run build. Результаты измерения времени или пользы в клинике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d622aef78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4ef5f0d6944f0" /><Relationship Type="http://schemas.openxmlformats.org/officeDocument/2006/relationships/slideLayout" Target="/ppt/slideLayouts/slideLayout1.xml" Id="R25a4fccf8d4d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4fccf8d4d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e156dedf44b3" /><Relationship Type="http://schemas.openxmlformats.org/officeDocument/2006/relationships/image" Target="/ppt/media/image.png" Id="R534d99f3733e43ec" /><Relationship Type="http://schemas.openxmlformats.org/officeDocument/2006/relationships/notesSlide" Target="/ppt/notesSlides/notesSlide1.xml" Id="R61f4e2732869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71f121834d27" /><Relationship Type="http://schemas.openxmlformats.org/officeDocument/2006/relationships/notesSlide" Target="/ppt/notesSlides/notesSlide2.xml" Id="Rf60a3e31532c4b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51abd791f4a5f" /><Relationship Type="http://schemas.openxmlformats.org/officeDocument/2006/relationships/notesSlide" Target="/ppt/notesSlides/notesSlide3.xml" Id="Rc7bc654b42b342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2b4b6e510418a" /><Relationship Type="http://schemas.openxmlformats.org/officeDocument/2006/relationships/notesSlide" Target="/ppt/notesSlides/notesSlide4.xml" Id="R3f589a240a654c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fa1ca6bda4a60" /><Relationship Type="http://schemas.openxmlformats.org/officeDocument/2006/relationships/notesSlide" Target="/ppt/notesSlides/notesSlide5.xml" Id="R82345de8866448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9ff44b904896" /><Relationship Type="http://schemas.openxmlformats.org/officeDocument/2006/relationships/notesSlide" Target="/ppt/notesSlides/notesSlide6.xml" Id="Rc1904054d5d844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2a4cbf7904576" /><Relationship Type="http://schemas.openxmlformats.org/officeDocument/2006/relationships/notesSlide" Target="/ppt/notesSlides/notesSlide7.xml" Id="Ra9867190268949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a81f8ab7141ad" /><Relationship Type="http://schemas.openxmlformats.org/officeDocument/2006/relationships/notesSlide" Target="/ppt/notesSlides/notesSlide8.xml" Id="R9c528b3bed2c41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24F35-1947-47D7-838E-AF06F51C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Лея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25BC6-1732-4EAE-814F-7A0FE68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AF5C7-6075-4665-A5A4-FE346A2B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52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Разбор анализов</a:t>
            </a:r>
          </a:p>
          <a:p xmlns:a="http://schemas.openxmlformats.org/drawingml/2006/main">
            <a:pPr>
              <a:defRPr sz="345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 участием врача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B8580-9043-495E-9349-BE9F5BE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Понятное объяснение пациенту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1115B-6AF4-4E92-ABCA-EC12B0CD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MVP по кейсу Сеченовского университета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d99f3733e43ec"/>
          <a:stretch xmlns:a="http://schemas.openxmlformats.org/drawingml/2006/main"/>
        </p:blipFill>
        <p:spPr>
          <a:xfrm xmlns:a="http://schemas.openxmlformats.org/drawingml/2006/main">
            <a:off x="6715125" y="2640806"/>
            <a:ext cx="4667250" cy="16716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63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D9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A9A5A-EB49-4EFA-8B0A-4A432FA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Анемия: масштаб проблемы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3A441-A744-43BB-8979-03DC1DB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9E6B7-4092-4ADD-9888-D29EDE7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6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30,7%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33687-7598-4F8B-934A-0B4A2601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676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женщин 15–49 лет в мире</a:t>
            </a:r>
          </a:p>
          <a:p xmlns:a="http://schemas.openxmlformats.org/drawingml/2006/main">
            <a:pPr>
              <a:defRPr sz="240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жили с анемией в 2023 году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CC9F1-8066-40FD-8008-166B0D62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У пациентов разные наборы анализов.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Лея собирает результаты в сводку для врача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и помогает объяснить их пациенту.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52DD4-A88F-4280-B13A-2200A296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ВОЗ, глобальные оценки анемии, выпуск 2025 года.</a:t>
            </a:r>
          </a:p>
          <a:p xmlns:a="http://schemas.openxmlformats.org/drawingml/2006/main">
            <a:pPr>
              <a:defRPr sz="15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Показатель описывает анемию. Распространённость скрытых дефицитов здесь не оценена.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77AED-2561-4973-ADC3-D40D225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who.int/data/gho/data/themes/topics/anaemia_in_women_and_children</a:t>
            </a:r>
          </a:p>
        </p:txBody>
      </p:sp>
    </p:spTree>
    <p:extLst>
      <p:ext uri="{BB962C8B-B14F-4D97-AF65-F5344CB8AC3E}">
        <p14:creationId xmlns:p14="http://schemas.microsoft.com/office/powerpoint/2010/main" val="247552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66BCA-C412-4FE4-AD03-072C2A3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Врач и пациент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C8891-751C-4B7C-9A7C-5F9E2C7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DC571-2351-4F62-90E2-505A6FC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Врач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00868-538A-4647-BD57-98DD7A0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Загружает и проверяет анализы.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Изучает гипотезы и ограничения.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Редактирует объяснение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и формулирует следующий шаг.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B67AA-9A0F-4095-9B16-9314E6A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Пациент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A548E-E8FA-4F54-A1E1-65D8C58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Получает понятную памятку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 пояснением врача.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Может сохранить или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распечатать документ.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C7BB9-444C-4C98-BAA3-CFF514B2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В MVP нет отдельных аккаунтов и автоматической передачи памятки.</a:t>
            </a:r>
          </a:p>
        </p:txBody>
      </p:sp>
    </p:spTree>
    <p:extLst>
      <p:ext uri="{BB962C8B-B14F-4D97-AF65-F5344CB8AC3E}">
        <p14:creationId xmlns:p14="http://schemas.microsoft.com/office/powerpoint/2010/main" val="974648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D9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AB8C6-AF1B-4EC4-B927-BA7FC49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Ввод и проверка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3A3A0-8DC1-45BA-A864-486389CA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495B9-9D3C-4F3B-A5FF-9BAEDBE1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100B4-CB67-4234-8E27-11BCB573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Ручной ввод или текстовый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17F2C-5229-468B-BE68-114FA6BE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24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Возраст, пол и лабораторные показатели в заданных единицах.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05B9-6CA8-410B-8FA5-7B801A5A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29906-9125-4B86-8C38-5125C459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Проверка формата и пропусков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AFBCF-0F0D-41D7-ABCD-416550B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Проверяем числа, единицы и повторные результаты.</a:t>
            </a:r>
          </a:p>
          <a:p xmlns:a="http://schemas.openxmlformats.org/drawingml/2006/main">
            <a:pPr>
              <a:defRPr sz="20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Неизвестные значения остаются пустыми.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7EFD8-F6BB-438D-B7E6-6D22610F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E55EC-BCE7-4DA6-81E4-A8CB69B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Сверка с исходным бланком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43815-B035-438D-9939-332AE01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9775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Пользователь подтверждает значения перед переносом в форму.</a:t>
            </a:r>
          </a:p>
        </p:txBody>
      </p:sp>
    </p:spTree>
    <p:extLst>
      <p:ext uri="{BB962C8B-B14F-4D97-AF65-F5344CB8AC3E}">
        <p14:creationId xmlns:p14="http://schemas.microsoft.com/office/powerpoint/2010/main" val="890074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D073-CEEA-4411-A0B2-2F74116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Логика и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5EEFF-0AA2-42F3-800D-7E7D93B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1E10E-635D-4663-A9F1-D377EE6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Браузер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56F5E-4E13-4D34-83D2-CCD638B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90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Форма и импорт проверяют введённые значения.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7C53-E04B-4407-B501-C5B7A031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Расчёт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A6722-9FBD-4FDB-B633-C7E7FD7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Hb оценивается отдельно. Модель выбирается по составу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97C30-FE86-4FA7-A322-3FB0D3F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7CF42-AD31-45E3-B043-C94D487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243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Пропуски обязательного ОАК и выход за диапазоны блокируют оценку причин.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9CAB8-D37D-4000-919B-C4804252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18EDC-F7C1-4A19-A486-703088B0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Сводка врачу, редактируемая памятка, печать PDF.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B33F-5258-4232-A453-279F581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Сервер раздаёт файлы. Анализы обрабатываются в памяти браузера.</a:t>
            </a:r>
          </a:p>
        </p:txBody>
      </p:sp>
    </p:spTree>
    <p:extLst>
      <p:ext uri="{BB962C8B-B14F-4D97-AF65-F5344CB8AC3E}">
        <p14:creationId xmlns:p14="http://schemas.microsoft.com/office/powerpoint/2010/main" val="1021506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C6469-48F7-40DF-A8FD-89D04EDE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Внутренняя проверка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82588-53B2-40F7-87B2-93C372C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47BF5-E2BD-411B-BC4C-6796C8BC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840 записей: 630 для обучения и 210 для теста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457450"/>
                <a:gridCol w="2457450"/>
              </a:tblGrid>
              <a:tr h="5834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Входные данные</a:t>
                      </a:r>
                    </a:p>
                  </a:txBody>
                  <a:tcPr marL="91440" marR="91440" marT="45720" marB="45720">
                    <a:solidFill>
                      <a:srgbClr val="345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345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345D4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Расширенные анализы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84,3%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0,834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Только ОАК</a:t>
                      </a:r>
                    </a:p>
                  </a:txBody>
                  <a:tcPr marL="91440" marR="91440" marT="45720" marB="45720">
                    <a:solidFill>
                      <a:srgbClr val="F0D9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52,4%</a:t>
                      </a:r>
                    </a:p>
                  </a:txBody>
                  <a:tcPr marL="91440" marR="91440" marT="45720" marB="45720">
                    <a:solidFill>
                      <a:srgbClr val="F0D9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0,438</a:t>
                      </a:r>
                    </a:p>
                  </a:txBody>
                  <a:tcPr marL="91440" marR="91440" marT="45720" marB="45720">
                    <a:solidFill>
                      <a:srgbClr val="F0D9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Больше пропусков¹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66,2%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B"/>
                          </a:solidFill>
                          <a:latin typeface="Manrope"/>
                          <a:ea typeface="Manrope"/>
                          <a:cs typeface="Manrope"/>
                        </a:rPr>
                        <a:t>0,609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D738A-32E3-4D3A-8364-684CCBB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12 классов, один источник данных. Метрики до ограничений интерфейса.</a:t>
            </a:r>
          </a:p>
          <a:p xmlns:a="http://schemas.openxmlformats.org/drawingml/2006/main">
            <a:pPr>
              <a:defRPr sz="187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Независимая клиническая валидация не выполнена.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33353-E3EE-4578-9D71-30C5BA5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¹ В расширенном режиме дополнительно скрыта половина дополнительных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1524149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D9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DA29-93AA-4DDF-ABBB-330D002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Границы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263EB-F2D7-4C56-A40A-A7C1A6C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B80FF-4CFB-4139-B1FD-A338E35E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Исследовательский прототип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50B4C-9913-4FE1-8F41-9A90696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Гипотезы требуют оценки врача.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Баллы модели не являются вероятностью диагноза.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Дети и беременные вне области 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6161A-0E94-4D20-B54E-38DD19AE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Импорт работает локально. Реальные бланки</a:t>
            </a:r>
          </a:p>
          <a:p xmlns:a="http://schemas.openxmlformats.org/drawingml/2006/main">
            <a:pPr>
              <a:defRPr sz="2250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и исходный датасет в репозиторий не включены.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8F270-3638-4815-8C8F-E443419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Соответствие 152-ФЗ отдельно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322253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77F8-C5B3-4DC5-A603-D59F4FC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defRPr>
            </a:pPr>
            <a:r>
              <a:rPr sz="3450" b="1">
                <a:solidFill>
                  <a:srgbClr val="345D42"/>
                </a:solidFill>
                <a:latin typeface="Unbounded"/>
                <a:ea typeface="Unbounded"/>
                <a:cs typeface="Unbounded"/>
              </a:rPr>
              <a:t>Демонстрация и дальнейшая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0CBEA-D135-482D-A074-DF99CAE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3FED0-AA84-45A6-A873-BC263DE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На защите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8EE81-EFCA-4D77-9DDE-1299DEF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Открыть автономный HTML. Выбрать учебный пример.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Показать сводку, ограничения и памятку пациенту.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4390A-7A71-4627-91B4-4DF03AE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45D42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345D42"/>
                </a:solidFill>
                <a:latin typeface="Manrope"/>
                <a:ea typeface="Manrope"/>
                <a:cs typeface="Manrope"/>
              </a:rPr>
              <a:t>После хакатона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853FC-1C3A-4765-97A7-38B7EA6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Проверить модель на независимых данных.</a:t>
            </a:r>
          </a:p>
          <a:p xmlns:a="http://schemas.openxmlformats.org/drawingml/2006/main">
            <a:pPr>
              <a:defRPr sz="2325" b="0">
                <a:solidFill>
                  <a:srgbClr val="20382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20382B"/>
                </a:solidFill>
                <a:latin typeface="Manrope"/>
                <a:ea typeface="Manrope"/>
                <a:cs typeface="Manrope"/>
              </a:rPr>
              <a:t>Оценить полезность сводки в работе врачей.</a:t>
            </a:r>
          </a:p>
        </p:txBody>
      </p:sp>
    </p:spTree>
    <p:extLst>
      <p:ext uri="{BB962C8B-B14F-4D97-AF65-F5344CB8AC3E}">
        <p14:creationId xmlns:p14="http://schemas.microsoft.com/office/powerpoint/2010/main" val="122644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2026-10-04T20:56:11.1540000Z</dcterms:created>
  <dcterms:modified xsi:type="dcterms:W3CDTF">2026-10-04T20:56:11.1540000Z</dcterms:modified>
</coreProperties>
</file>