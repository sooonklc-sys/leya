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7a1a74eefd4e36" /><Relationship Type="http://schemas.openxmlformats.org/officeDocument/2006/relationships/extended-properties" Target="/docProps/app.xml" Id="R9312f37bf6de4b4a" /><Relationship Type="http://schemas.openxmlformats.org/officeDocument/2006/relationships/officeDocument" Target="/ppt/presentation.xml" Id="Refc512c07cc74c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bca9c4a7e84422"/>
  </p:sldMasterIdLst>
  <p:notesMasterIdLst>
    <p:notesMasterId xmlns:r="http://schemas.openxmlformats.org/officeDocument/2006/relationships" r:id="R2721dcd861924b4b"/>
  </p:notesMasterIdLst>
  <p:sldIdLst>
    <p:sldId xmlns:r="http://schemas.openxmlformats.org/officeDocument/2006/relationships" id="256" r:id="R30421e74951a4a1b"/>
    <p:sldId xmlns:r="http://schemas.openxmlformats.org/officeDocument/2006/relationships" id="257" r:id="Rcefb19824b5e45b2"/>
    <p:sldId xmlns:r="http://schemas.openxmlformats.org/officeDocument/2006/relationships" id="258" r:id="Rc8de1c81af3440fa"/>
    <p:sldId xmlns:r="http://schemas.openxmlformats.org/officeDocument/2006/relationships" id="259" r:id="R344f15647fbb4720"/>
    <p:sldId xmlns:r="http://schemas.openxmlformats.org/officeDocument/2006/relationships" id="260" r:id="R3f1eceea580d4fda"/>
    <p:sldId xmlns:r="http://schemas.openxmlformats.org/officeDocument/2006/relationships" id="261" r:id="R913faca7fbf44f7d"/>
    <p:sldId xmlns:r="http://schemas.openxmlformats.org/officeDocument/2006/relationships" id="262" r:id="R1051f459481145f2"/>
    <p:sldId xmlns:r="http://schemas.openxmlformats.org/officeDocument/2006/relationships" id="263" r:id="R57c0a612730141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64aca27a5f4ca4" /><Relationship Type="http://schemas.openxmlformats.org/officeDocument/2006/relationships/slideMaster" Target="/ppt/slideMasters/slideMaster1.xml" Id="Rd5bca9c4a7e84422" /><Relationship Type="http://schemas.openxmlformats.org/officeDocument/2006/relationships/notesMaster" Target="/ppt/notesMasters/notesMaster1.xml" Id="R2721dcd861924b4b" /><Relationship Type="http://schemas.openxmlformats.org/officeDocument/2006/relationships/presProps" Target="/ppt/presProps.xml" Id="R690ea4e0d6574f14" /><Relationship Type="http://schemas.openxmlformats.org/officeDocument/2006/relationships/tableStyles" Target="/ppt/tableStyles.xml" Id="R9ecb94782fbd4c3f" /><Relationship Type="http://schemas.openxmlformats.org/officeDocument/2006/relationships/slide" Target="/ppt/slides/slide1.xml" Id="R30421e74951a4a1b" /><Relationship Type="http://schemas.openxmlformats.org/officeDocument/2006/relationships/slide" Target="/ppt/slides/slide2.xml" Id="Rcefb19824b5e45b2" /><Relationship Type="http://schemas.openxmlformats.org/officeDocument/2006/relationships/slide" Target="/ppt/slides/slide3.xml" Id="Rc8de1c81af3440fa" /><Relationship Type="http://schemas.openxmlformats.org/officeDocument/2006/relationships/slide" Target="/ppt/slides/slide4.xml" Id="R344f15647fbb4720" /><Relationship Type="http://schemas.openxmlformats.org/officeDocument/2006/relationships/slide" Target="/ppt/slides/slide5.xml" Id="R3f1eceea580d4fda" /><Relationship Type="http://schemas.openxmlformats.org/officeDocument/2006/relationships/slide" Target="/ppt/slides/slide6.xml" Id="R913faca7fbf44f7d" /><Relationship Type="http://schemas.openxmlformats.org/officeDocument/2006/relationships/slide" Target="/ppt/slides/slide7.xml" Id="R1051f459481145f2" /><Relationship Type="http://schemas.openxmlformats.org/officeDocument/2006/relationships/slide" Target="/ppt/slides/slide8.xml" Id="R57c0a612730141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caf628d82742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833f93fe004c08" /><Relationship Type="http://schemas.openxmlformats.org/officeDocument/2006/relationships/notesMaster" Target="/ppt/notesMasters/notesMaster1.xml" Id="R7e09347d2b7a43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40366911ae4902" /><Relationship Type="http://schemas.openxmlformats.org/officeDocument/2006/relationships/notesMaster" Target="/ppt/notesMasters/notesMaster1.xml" Id="R7af91b654dd944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ea78420e304e84" /><Relationship Type="http://schemas.openxmlformats.org/officeDocument/2006/relationships/notesMaster" Target="/ppt/notesMasters/notesMaster1.xml" Id="R8a7fd07b894a44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c3e88d55ca455a" /><Relationship Type="http://schemas.openxmlformats.org/officeDocument/2006/relationships/notesMaster" Target="/ppt/notesMasters/notesMaster1.xml" Id="R357fdfb696b948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c68488575f4b51" /><Relationship Type="http://schemas.openxmlformats.org/officeDocument/2006/relationships/notesMaster" Target="/ppt/notesMasters/notesMaster1.xml" Id="Re22fd8c314d34f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e9a37a9f7148f4" /><Relationship Type="http://schemas.openxmlformats.org/officeDocument/2006/relationships/notesMaster" Target="/ppt/notesMasters/notesMaster1.xml" Id="Raf570767f0694b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71576122c34f24" /><Relationship Type="http://schemas.openxmlformats.org/officeDocument/2006/relationships/notesMaster" Target="/ppt/notesMasters/notesMaster1.xml" Id="R02074a916e6347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c36af4a30f45b4" /><Relationship Type="http://schemas.openxmlformats.org/officeDocument/2006/relationships/notesMaster" Target="/ppt/notesMasters/notesMaster1.xml" Id="R935f093594f941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Краткая техническая презентация для жюри. Исследовательский прототип. Иллюстрация из проекта, создана ImageGen, не фотография. Источники: README.md и DESIGN.md.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Продуктовая цель и задачи из README.md. Отсутствие анализа не означает норму или диагноз. Польза для врача является гипотезой, время консультации в исследовании не измерялось.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Фактический сценарий dist/workflow.js. Отметка проверки не является электронной подписью или подтверждением квалификации врача. Источники: docs/ARCHITECTURE.md, docs/INTERFACES.md.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docs/DATA.md и dist/import.js. RDW-CV необязателен. Ретикулоциты вынесены в дополнительные исследования. PDF, фотографии и старый XLS не распознаются.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Архитектура: docs/ARCHITECTURE.md. Модули: app.js, import.js, engine.js, workflow.js. Отдельное правило Hb, Random Forest, шаблоны текста. Нет внешнего сервиса LLM. Автономный HTML включает ресурсы и модель.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model-evaluation.json, docs/MODEL_CARD.md. Accuracy — доля правильно определённых классов, а не точность постановки диагноза. Стратифицированное разделение, выбор настроек на обучающей части. При режиме ОАК подробные выводы о причинах ограничены.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docs/MEDICAL_AND_PRIVACY.md. Локальная обработка является технической характеристикой, а не юридическим заключением. Внешняя клиническая оценка, происхождение разметки и калибровка требуют дополнительной работы.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Материалы: DEMO.md, examples/demo.csv, docs/REQUIREMENTS.md. Текущая реализация готовит автономный файл npm run build. Результаты измерения времени или пользы в клинике не заявляются.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8062c3eb0946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d40b5277e54cf5" /><Relationship Type="http://schemas.openxmlformats.org/officeDocument/2006/relationships/slideLayout" Target="/ppt/slideLayouts/slideLayout1.xml" Id="Ra0114d61ebbf46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114d61ebbf46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e2890a0ac47c3" /><Relationship Type="http://schemas.openxmlformats.org/officeDocument/2006/relationships/image" Target="/ppt/media/image.png" Id="R7d48664f387f41b9" /><Relationship Type="http://schemas.openxmlformats.org/officeDocument/2006/relationships/notesSlide" Target="/ppt/notesSlides/notesSlide1.xml" Id="Rccf86da0199f4d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3ffe2fe87459f" /><Relationship Type="http://schemas.openxmlformats.org/officeDocument/2006/relationships/notesSlide" Target="/ppt/notesSlides/notesSlide2.xml" Id="R5aea848c609748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524cc33de4881" /><Relationship Type="http://schemas.openxmlformats.org/officeDocument/2006/relationships/notesSlide" Target="/ppt/notesSlides/notesSlide3.xml" Id="R85eb1110940a40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557569d0d4c96" /><Relationship Type="http://schemas.openxmlformats.org/officeDocument/2006/relationships/notesSlide" Target="/ppt/notesSlides/notesSlide4.xml" Id="Rcde23efd4ddf46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a2cc8c9a04908" /><Relationship Type="http://schemas.openxmlformats.org/officeDocument/2006/relationships/notesSlide" Target="/ppt/notesSlides/notesSlide5.xml" Id="R64b36bbe19f940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d0a0943894d82" /><Relationship Type="http://schemas.openxmlformats.org/officeDocument/2006/relationships/notesSlide" Target="/ppt/notesSlides/notesSlide6.xml" Id="Rca11cfcbacb04a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a72892e34f4e4e" /><Relationship Type="http://schemas.openxmlformats.org/officeDocument/2006/relationships/notesSlide" Target="/ppt/notesSlides/notesSlide7.xml" Id="R21492e8e1f504e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a3703f4054541" /><Relationship Type="http://schemas.openxmlformats.org/officeDocument/2006/relationships/notesSlide" Target="/ppt/notesSlides/notesSlide8.xml" Id="R0ccbb3018cfb4c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7DB4D-E43B-44AC-A5FB-B186608E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Лея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958CE6-FB00-4F69-A593-1C37DB29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96DC0-B03D-488F-A35D-B160C977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524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3450" b="1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Разбор анализов</a:t>
            </a:r>
          </a:p>
          <a:p xmlns:a="http://schemas.openxmlformats.org/drawingml/2006/main">
            <a:pPr>
              <a:defRPr sz="3450" b="1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3450" b="1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с участием врача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A1D3C-B7A4-4915-BC40-7B8FBFD3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71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Понятное объяснение пациенту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6A6B1F-5A1D-4171-A9ED-9A2FB436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MVP по кейсу Сеченовского университета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8664f387f41b9"/>
          <a:stretch xmlns:a="http://schemas.openxmlformats.org/drawingml/2006/main"/>
        </p:blipFill>
        <p:spPr>
          <a:xfrm xmlns:a="http://schemas.openxmlformats.org/drawingml/2006/main">
            <a:off x="6715125" y="2640806"/>
            <a:ext cx="4667250" cy="16716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1379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D9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24F40-160C-4CEF-B96F-C594987E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Задача проекта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2910F-6F82-47C1-A115-88BEDD5E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23375-FBB3-44DA-B32F-E0177324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850" b="1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У пациентов разные наборы анализов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A091A-85CD-4C0C-B8B2-7A875DC1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4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Часть показателей отсутствует. Врач должен видеть,</a:t>
            </a:r>
          </a:p>
          <a:p xmlns:a="http://schemas.openxmlformats.org/drawingml/2006/main">
            <a:pPr>
              <a:defRPr sz="24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4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какие выводы доступны и что остаётся неизвестным.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4FCF3-EC1A-41F0-94E9-D7956868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057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4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Лея собирает результаты в сводку и помогает</a:t>
            </a:r>
          </a:p>
          <a:p xmlns:a="http://schemas.openxmlformats.org/drawingml/2006/main">
            <a:pPr>
              <a:defRPr sz="24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4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подготовить объяснение для пациента.</a:t>
            </a:r>
          </a:p>
        </p:txBody>
      </p:sp>
    </p:spTree>
    <p:extLst>
      <p:ext uri="{BB962C8B-B14F-4D97-AF65-F5344CB8AC3E}">
        <p14:creationId xmlns:p14="http://schemas.microsoft.com/office/powerpoint/2010/main" val="867427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30892-A398-46F5-8E7E-7F0E6E79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Врач и пациент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FA65D-2087-4A86-AEB7-F9F3031E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DDE91-2569-43C7-9712-F2E07036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8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Врач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63396-798C-455B-AACC-4E5E5D6F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5048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Загружает и проверяет анализы.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Изучает гипотезы и ограничения.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Редактирует объяснение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и формулирует следующий шаг.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E6C89-7669-4685-8EA9-9FDFA8CF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09750"/>
            <a:ext cx="481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8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Пациент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768E5-C98B-4733-8FBF-CB0F509D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67000"/>
            <a:ext cx="4810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Получает понятную памятку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с пояснением врача.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Может сохранить или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распечатать документ.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DE96F7-2B18-4DEA-902A-A61FDE79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В MVP нет отдельных аккаунтов и автоматической передачи памятки.</a:t>
            </a:r>
          </a:p>
        </p:txBody>
      </p:sp>
    </p:spTree>
    <p:extLst>
      <p:ext uri="{BB962C8B-B14F-4D97-AF65-F5344CB8AC3E}">
        <p14:creationId xmlns:p14="http://schemas.microsoft.com/office/powerpoint/2010/main" val="13579294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D9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84A03C-A3F8-4E62-86A9-E8D4D878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Ввод и проверка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D1124-53CA-4129-A4C3-E167F074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342AF-75FB-4F47-90C0-BEAD023A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04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300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5AB00-1EF7-4D9A-B9DB-9F612C07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097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550" b="1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Ручной ввод или CSV/XLSX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41C39A-4598-4F16-A1AF-FD608042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24125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Возраст, пол и лабораторные показатели в заданных единицах.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2599F-A62A-44C2-9020-91C67EC3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904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300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BE8D2-9887-46BA-BAC0-8AAD6880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337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550" b="1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Проверка формата и пропусков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33A99-0368-426C-B6B1-04CDDCE5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048125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Даты Excel в результатах останавливают импорт.</a:t>
            </a:r>
          </a:p>
          <a:p xmlns:a="http://schemas.openxmlformats.org/drawingml/2006/main">
            <a:pPr>
              <a:defRPr sz="20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Неизвестные значения остаются пустыми.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2998E0-719B-46EE-8A5A-27157235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904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300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55C3CC-521A-44B4-9F8E-315BD65B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625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550" b="1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Сверка с исходным бланком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EC66E7-1D8E-49FD-94EC-DD3C9353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19775"/>
            <a:ext cx="923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Сервис не восстанавливает медицинские числа догадкой.</a:t>
            </a:r>
          </a:p>
        </p:txBody>
      </p:sp>
    </p:spTree>
    <p:extLst>
      <p:ext uri="{BB962C8B-B14F-4D97-AF65-F5344CB8AC3E}">
        <p14:creationId xmlns:p14="http://schemas.microsoft.com/office/powerpoint/2010/main" val="3268436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06F64D-72AE-4E5B-BEE4-36D668D7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Логика и 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BAB2A-1D4E-40AF-9439-AC0E7846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B1B67-0964-42D6-803A-42B7AC72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2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Браузер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61B15-3B7D-4CB6-962A-7F373825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9070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Форма и импорт проверяют введённые значения.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AE9E75-252E-4C69-8E86-8311B3EE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2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Расчёт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4638A-9D7E-425F-8B80-A1D4A23A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5750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Hb оценивается отдельно. Модель выбирается по составу данных.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2E29DD-6125-4D76-9D44-5ABCE768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2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Ограничения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ECECA-E7DE-4F87-9E9B-A36235B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2430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Пропуски обязательного ОАК и выход за диапазоны блокируют оценку причин.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371F8-118C-438D-B77A-4F7F4F72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2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Результат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BEB227-5B6E-4334-B564-C702302E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9110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Сводка врачу, редактируемая памятка, печать PDF.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0788C-FFE3-4C07-8CB5-525A6E01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16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Сервер раздаёт файлы. Анализы обрабатываются в памяти браузера.</a:t>
            </a:r>
          </a:p>
        </p:txBody>
      </p:sp>
    </p:spTree>
    <p:extLst>
      <p:ext uri="{BB962C8B-B14F-4D97-AF65-F5344CB8AC3E}">
        <p14:creationId xmlns:p14="http://schemas.microsoft.com/office/powerpoint/2010/main" val="17753147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947F9-22D8-4145-A2EF-DA4565A1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Внутренняя проверка модели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9A51C-2BFB-4C9A-8AF2-10D28069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0F6F4-4305-48F0-AE4E-976E8F37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840 записей: 630 для обучения и 210 для теста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85800" y="2571750"/>
          <a:ext xmlns:a="http://schemas.openxmlformats.org/drawingml/2006/main" cx="1082040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457450"/>
                <a:gridCol w="2457450"/>
              </a:tblGrid>
              <a:tr h="583406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anrope"/>
                          <a:ea typeface="Manrope"/>
                          <a:cs typeface="Manrope"/>
                        </a:rPr>
                        <a:t>Входные данные</a:t>
                      </a:r>
                    </a:p>
                  </a:txBody>
                  <a:tcPr marL="91440" marR="91440" marT="45720" marB="45720">
                    <a:solidFill>
                      <a:srgbClr val="345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anrope"/>
                          <a:ea typeface="Manrope"/>
                          <a:cs typeface="Manrope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345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anrope"/>
                          <a:ea typeface="Manrope"/>
                          <a:cs typeface="Manrope"/>
                        </a:rPr>
                        <a:t>Macro-F1</a:t>
                      </a:r>
                    </a:p>
                  </a:txBody>
                  <a:tcPr marL="91440" marR="91440" marT="45720" marB="45720">
                    <a:solidFill>
                      <a:srgbClr val="345D4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Расширенные анализы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84,3%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0,834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Только ОАК</a:t>
                      </a:r>
                    </a:p>
                  </a:txBody>
                  <a:tcPr marL="91440" marR="91440" marT="45720" marB="45720">
                    <a:solidFill>
                      <a:srgbClr val="F0D9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52,4%</a:t>
                      </a:r>
                    </a:p>
                  </a:txBody>
                  <a:tcPr marL="91440" marR="91440" marT="45720" marB="45720">
                    <a:solidFill>
                      <a:srgbClr val="F0D9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0,438</a:t>
                      </a:r>
                    </a:p>
                  </a:txBody>
                  <a:tcPr marL="91440" marR="91440" marT="45720" marB="45720">
                    <a:solidFill>
                      <a:srgbClr val="F0D9E5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Больше пропусков¹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66,2%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0382B"/>
                          </a:solidFill>
                          <a:latin typeface="Manrope"/>
                          <a:ea typeface="Manrope"/>
                          <a:cs typeface="Manrope"/>
                        </a:rPr>
                        <a:t>0,609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D722E-9AAF-4AEA-8365-F2C811DA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12 классов, один источник данных. Метрики до ограничений интерфейса.</a:t>
            </a:r>
          </a:p>
          <a:p xmlns:a="http://schemas.openxmlformats.org/drawingml/2006/main">
            <a:pPr>
              <a:defRPr sz="187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Независимая клиническая валидация не выполнена.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AB9441-D63B-4171-BCA1-23A761CA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29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¹ В расширенном режиме дополнительно скрыта половина дополнительных значений.</a:t>
            </a:r>
          </a:p>
        </p:txBody>
      </p:sp>
    </p:spTree>
    <p:extLst>
      <p:ext uri="{BB962C8B-B14F-4D97-AF65-F5344CB8AC3E}">
        <p14:creationId xmlns:p14="http://schemas.microsoft.com/office/powerpoint/2010/main" val="6602216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D9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7D892-5E22-47F2-8880-52CEB032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Границы применения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3752D-A332-4E3B-8900-F7EABB10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3659C-40A1-41D4-92C2-E5A9A1E6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8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Исследовательский прототип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B38036-594B-4E2E-9096-FE079AF1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76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Гипотезы требуют оценки врача.</a:t>
            </a:r>
          </a:p>
          <a:p xmlns:a="http://schemas.openxmlformats.org/drawingml/2006/main">
            <a:pPr>
              <a:defRPr sz="23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Баллы модели не являются вероятностью диагноза.</a:t>
            </a:r>
          </a:p>
          <a:p xmlns:a="http://schemas.openxmlformats.org/drawingml/2006/main">
            <a:pPr>
              <a:defRPr sz="23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Дети и беременные вне области MVP.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7F4A1-549F-4757-8BF2-06654444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Импорт работает локально. Реальные бланки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и исходный датасет в репозиторий не включены.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7A405-4C8A-40EB-B6A5-7E0AC3E6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Соответствие 152-ФЗ отдельно не подтверждено.</a:t>
            </a:r>
          </a:p>
        </p:txBody>
      </p:sp>
    </p:spTree>
    <p:extLst>
      <p:ext uri="{BB962C8B-B14F-4D97-AF65-F5344CB8AC3E}">
        <p14:creationId xmlns:p14="http://schemas.microsoft.com/office/powerpoint/2010/main" val="19276949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CECEB-E56E-4F03-89A6-D36983E4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defRPr>
            </a:pPr>
            <a:r>
              <a:rPr sz="3450" b="1">
                <a:solidFill>
                  <a:srgbClr val="345D42"/>
                </a:solidFill>
                <a:latin typeface="Unbounded"/>
                <a:ea typeface="Unbounded"/>
                <a:cs typeface="Unbounded"/>
              </a:rPr>
              <a:t>Демонстрация и дальнейшая работа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756F0-6EB4-49B0-A84E-2C674826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1A147-1F3A-43FE-A58F-EF8537E6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8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На защите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37456-2330-4FFD-8696-15105E0B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Открыть автономный HTML. Загрузить учебные данные.</a:t>
            </a:r>
          </a:p>
          <a:p xmlns:a="http://schemas.openxmlformats.org/drawingml/2006/main">
            <a:pPr>
              <a:defRPr sz="23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Показать сводку, ограничения и памятку пациенту.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8A0EF-A66B-4472-A301-321ED0AD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5D42"/>
                </a:solidFill>
                <a:latin typeface="Manrope"/>
                <a:ea typeface="Manrope"/>
                <a:cs typeface="Manrope"/>
              </a:defRPr>
            </a:pPr>
            <a:r>
              <a:rPr sz="2850" b="1">
                <a:solidFill>
                  <a:srgbClr val="345D42"/>
                </a:solidFill>
                <a:latin typeface="Manrope"/>
                <a:ea typeface="Manrope"/>
                <a:cs typeface="Manrope"/>
              </a:rPr>
              <a:t>После хакатона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F4DD80-BE17-4564-B01A-A2253B69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4925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Проверить модель на независимых данных.</a:t>
            </a:r>
          </a:p>
          <a:p xmlns:a="http://schemas.openxmlformats.org/drawingml/2006/main">
            <a:pPr>
              <a:defRPr sz="2325" b="0">
                <a:solidFill>
                  <a:srgbClr val="20382B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20382B"/>
                </a:solidFill>
                <a:latin typeface="Manrope"/>
                <a:ea typeface="Manrope"/>
                <a:cs typeface="Manrope"/>
              </a:rPr>
              <a:t>Оценить полезность сводки в работе врачей.</a:t>
            </a:r>
          </a:p>
        </p:txBody>
      </p:sp>
    </p:spTree>
    <p:extLst>
      <p:ext uri="{BB962C8B-B14F-4D97-AF65-F5344CB8AC3E}">
        <p14:creationId xmlns:p14="http://schemas.microsoft.com/office/powerpoint/2010/main" val="1958245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2026-10-04T15:55:00.2460000Z</dcterms:created>
  <dcterms:modified xsi:type="dcterms:W3CDTF">2026-10-04T15:55:00.2460000Z</dcterms:modified>
</coreProperties>
</file>